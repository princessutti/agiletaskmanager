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embeddedFontLst>
    <p:embeddedFont>
      <p:font typeface="Inter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rId3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59794"/>
            <a:ext cx="5715000" cy="8286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59794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8"/>
              </a:lnSpc>
              <a:buNone/>
            </a:pPr>
            <a:r>
              <a:rPr lang="en-US" sz="2957" b="1" spc="-5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user personas</a:t>
            </a:r>
            <a:endParaRPr lang="en-US" sz="2957" dirty="0"/>
          </a:p>
        </p:txBody>
      </p:sp>
      <p:sp>
        <p:nvSpPr>
          <p:cNvPr id="4" name="Text 2"/>
          <p:cNvSpPr/>
          <p:nvPr/>
        </p:nvSpPr>
        <p:spPr>
          <a:xfrm>
            <a:off x="609600" y="2750344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user needs to improve product design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413" y="2295525"/>
            <a:ext cx="169068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33413" y="3081338"/>
            <a:ext cx="78771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User Personas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User Personas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User Personas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159794"/>
            <a:ext cx="5715000" cy="8286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2159794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48"/>
              </a:lnSpc>
              <a:buNone/>
            </a:pPr>
            <a:r>
              <a:rPr lang="en-US" sz="2957" b="1" spc="-5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User Personas</a:t>
            </a:r>
            <a:endParaRPr lang="en-US" sz="2957" dirty="0"/>
          </a:p>
        </p:txBody>
      </p:sp>
      <p:sp>
        <p:nvSpPr>
          <p:cNvPr id="4" name="Text 2"/>
          <p:cNvSpPr/>
          <p:nvPr/>
        </p:nvSpPr>
        <p:spPr>
          <a:xfrm>
            <a:off x="1714500" y="2750344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importance of user personas in product design</a:t>
            </a:r>
            <a:endParaRPr lang="en-US" sz="12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characters representing different user types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research and real data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76275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066" b="1" spc="-4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User Personas?</a:t>
            </a:r>
            <a:endParaRPr lang="en-US" sz="20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413" y="2914650"/>
            <a:ext cx="54387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User Personas?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33413" y="3700463"/>
            <a:ext cx="78771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understand user needs and behaviors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 in creating user-centered designs</a:t>
            </a:r>
            <a:endParaRPr lang="en-US" sz="89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413" y="2105025"/>
            <a:ext cx="541496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Use User Personas?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33413" y="2890838"/>
            <a:ext cx="78771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product relevance and usability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communication within design teams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decision-making processes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user needs are prioritized</a:t>
            </a:r>
            <a:endParaRPr lang="en-US" sz="89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413" y="1343025"/>
            <a:ext cx="67913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Elements of a User Persona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33413" y="2128838"/>
            <a:ext cx="787717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 age, occupation, location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and pain points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and motivations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traits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patterns</a:t>
            </a:r>
            <a:endParaRPr lang="en-US" sz="12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605213"/>
            <a:ext cx="5715000" cy="928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3605213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specific user personas and their characteristics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609600" y="3986213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User Personas</a:t>
            </a:r>
            <a:endParaRPr lang="en-US" sz="3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125" y="666750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3000" y="2743200"/>
            <a:ext cx="2862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 - The Overwhelmed Student</a:t>
            </a:r>
            <a:endParaRPr lang="en-US" sz="1318" dirty="0"/>
          </a:p>
        </p:txBody>
      </p:sp>
      <p:sp>
        <p:nvSpPr>
          <p:cNvPr id="4" name="Text 1"/>
          <p:cNvSpPr/>
          <p:nvPr/>
        </p:nvSpPr>
        <p:spPr>
          <a:xfrm>
            <a:off x="4953000" y="3190875"/>
            <a:ext cx="29241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21, Student, Birmingham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system that reduces overwhelm and helps her prioritize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Underestimates workload, procrastinates when stressed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Smart but spontaneous, avoids planning until deadlines loom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89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86300" y="600075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413" y="2767013"/>
            <a:ext cx="290512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3"/>
              </a:lnSpc>
              <a:buNone/>
            </a:pPr>
            <a:r>
              <a:rPr lang="en-US" sz="1461" b="1" spc="-2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Marcus - The Busy Professional</a:t>
            </a:r>
            <a:endParaRPr lang="en-US" sz="1461" dirty="0"/>
          </a:p>
        </p:txBody>
      </p:sp>
      <p:sp>
        <p:nvSpPr>
          <p:cNvPr id="4" name="Text 1"/>
          <p:cNvSpPr/>
          <p:nvPr/>
        </p:nvSpPr>
        <p:spPr>
          <a:xfrm>
            <a:off x="633413" y="3238500"/>
            <a:ext cx="29432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47"/>
              </a:lnSpc>
              <a:buSzPct val="100000"/>
              <a:buChar char="•"/>
            </a:pPr>
            <a:r>
              <a:rPr lang="en-US" sz="819" spc="-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34, Business Analyst, London</a:t>
            </a:r>
            <a:endParaRPr lang="en-US" sz="819" dirty="0"/>
          </a:p>
          <a:p>
            <a:pPr algn="l" marL="342900" indent="-342900">
              <a:lnSpc>
                <a:spcPts val="1147"/>
              </a:lnSpc>
              <a:buSzPct val="100000"/>
              <a:buChar char="•"/>
            </a:pPr>
            <a:r>
              <a:rPr lang="en-US" sz="819" spc="-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system that reduces overwhelm and helps him prioritize</a:t>
            </a:r>
            <a:endParaRPr lang="en-US" sz="819" dirty="0"/>
          </a:p>
          <a:p>
            <a:pPr algn="l" marL="342900" indent="-342900">
              <a:lnSpc>
                <a:spcPts val="1147"/>
              </a:lnSpc>
              <a:buSzPct val="100000"/>
              <a:buChar char="•"/>
            </a:pPr>
            <a:r>
              <a:rPr lang="en-US" sz="819" spc="-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Underestimates workload, procrastinates when stressed</a:t>
            </a:r>
            <a:endParaRPr lang="en-US" sz="819" dirty="0"/>
          </a:p>
          <a:p>
            <a:pPr algn="l" marL="342900" indent="-342900">
              <a:lnSpc>
                <a:spcPts val="1147"/>
              </a:lnSpc>
              <a:buSzPct val="100000"/>
              <a:buChar char="•"/>
            </a:pPr>
            <a:r>
              <a:rPr lang="en-US" sz="819" spc="-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Works full-time in a fast-paced job, manages many small tasks daily</a:t>
            </a:r>
            <a:endParaRPr lang="en-US" sz="819" dirty="0"/>
          </a:p>
          <a:p>
            <a:pPr algn="l" marL="342900" indent="-342900">
              <a:lnSpc>
                <a:spcPts val="1147"/>
              </a:lnSpc>
              <a:buSzPct val="100000"/>
              <a:buChar char="•"/>
            </a:pPr>
            <a:r>
              <a:rPr lang="en-US" sz="819" spc="-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8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71800"/>
            <a:ext cx="33813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29, Freelance designer, London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flexible system that helps her estimate effort and avoid burnout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Difficulty tracking progress across projects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Freelance designer juggling multiple clients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096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674" b="1" spc="-3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Sofia - The Creative Multitasker</a:t>
            </a:r>
            <a:endParaRPr lang="en-US" sz="1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2809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 - The Minimalist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1619250"/>
            <a:ext cx="323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33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straightforward to-do list with no cognitive load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Gets overwhelmed by complex tools or too many options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Prefers simple, clean interfaces with minimal features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2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71800"/>
            <a:ext cx="33813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26, Software Engineer, London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personal version of Agile that feels intuitive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Existing apps don’t adapt Agile for everyday life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Software engineer familiar with Agile and story points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Ethan - The Agile Fan</a:t>
            </a:r>
            <a:endParaRPr lang="en-US" sz="21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7588"/>
            <a:ext cx="33813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38, Stay-at-home Mum, Birmingham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tool that helps her realistically plan limited time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Constantly overestimates capacity, needs clarity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59055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532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- The Overcommitted Parent</a:t>
            </a:r>
            <a:endParaRPr lang="en-US" sz="153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2885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- The Overcommitted Parent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214563"/>
            <a:ext cx="3238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Balances work, childcare, and household tasks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2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7588"/>
            <a:ext cx="33813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20, Student, Birmingham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system that breaks tasks down and reduces cognitive load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Gets overwhelmed by long lists or unclear priorities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59055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532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Lily - The Easily Distracted Student</a:t>
            </a:r>
            <a:endParaRPr lang="en-US" sz="153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413" y="2914650"/>
            <a:ext cx="75152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Lily - The Easily Distracted Student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33413" y="3700463"/>
            <a:ext cx="78771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Neurodivergent student who struggles with focus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89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125" y="666750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3000" y="666750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6"/>
              </a:lnSpc>
              <a:buNone/>
            </a:pPr>
            <a:r>
              <a:rPr lang="en-US" sz="1888" b="1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- The Habit Builder</a:t>
            </a:r>
            <a:endParaRPr lang="en-US" sz="1888" dirty="0"/>
          </a:p>
        </p:txBody>
      </p:sp>
      <p:sp>
        <p:nvSpPr>
          <p:cNvPr id="4" name="Text 1"/>
          <p:cNvSpPr/>
          <p:nvPr/>
        </p:nvSpPr>
        <p:spPr>
          <a:xfrm>
            <a:off x="4953000" y="1209675"/>
            <a:ext cx="29241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24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system that shows progress and motivates her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Loses motivation when she can’t see improvement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Smart but spontaneous, avoids planning until deadlines loom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89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71800"/>
            <a:ext cx="33813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27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tool that supports detailed planning and effort estimation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Gets frustrated when tools are too simplistic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Loves organization, uses calendars and color-coding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19125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- The Structured Planner</a:t>
            </a:r>
            <a:endParaRPr lang="en-US" sz="17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7588"/>
            <a:ext cx="33813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27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Needs: A tool that supports detailed planning and effort estimation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Points: Gets frustrated when tools are too simplistic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33413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817" b="1" spc="-4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Chloe - The Last-Minute Doer</a:t>
            </a:r>
            <a:endParaRPr lang="en-US" sz="181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28850"/>
            <a:ext cx="23193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Chloe - The Last-Minute Doer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0955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Characteristics: Smart but spontaneous, avoids planning until deadlines loom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Interests: Bio, Link 1, Link 2, Link 3</a:t>
            </a:r>
            <a:endParaRPr lang="en-US" sz="128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00288"/>
            <a:ext cx="51816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User Personas</a:t>
            </a:r>
            <a:endParaRPr lang="en-US" sz="34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86300" y="600075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413" y="3324225"/>
            <a:ext cx="2928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2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Personas into Design</a:t>
            </a:r>
            <a:endParaRPr lang="en-US" sz="1425" dirty="0"/>
          </a:p>
        </p:txBody>
      </p:sp>
      <p:sp>
        <p:nvSpPr>
          <p:cNvPr id="4" name="Text 1"/>
          <p:cNvSpPr/>
          <p:nvPr/>
        </p:nvSpPr>
        <p:spPr>
          <a:xfrm>
            <a:off x="633413" y="3790950"/>
            <a:ext cx="29432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personas to guide design decisions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user scenarios and journeys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features based on persona needs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designs with persona feedback</a:t>
            </a:r>
            <a:endParaRPr lang="en-US" sz="89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125" y="666750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3000" y="3409950"/>
            <a:ext cx="2862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2"/>
              </a:lnSpc>
              <a:buNone/>
            </a:pPr>
            <a:r>
              <a:rPr lang="en-US" sz="1318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of Persona-Driven Design</a:t>
            </a:r>
            <a:endParaRPr lang="en-US" sz="1318" dirty="0"/>
          </a:p>
        </p:txBody>
      </p:sp>
      <p:sp>
        <p:nvSpPr>
          <p:cNvPr id="4" name="Text 1"/>
          <p:cNvSpPr/>
          <p:nvPr/>
        </p:nvSpPr>
        <p:spPr>
          <a:xfrm>
            <a:off x="4953000" y="3857625"/>
            <a:ext cx="29241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user satisfaction and engagement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product usability and relevance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design and development processes</a:t>
            </a:r>
            <a:endParaRPr lang="en-US" sz="891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891" spc="-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alignment within design teams</a:t>
            </a:r>
            <a:endParaRPr lang="en-US" sz="89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1776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1262063"/>
            <a:ext cx="3238500" cy="261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1: Improved user retention through persona-driven design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2: Increased task completion rates by addressing persona pain points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3: Enhanced product adoption by tailoring features to persona needs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4: Streamlined user onboarding with persona-specific guides</a:t>
            </a:r>
            <a:endParaRPr lang="en-US" sz="128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and discussion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2026-08-27T22:58:32Z</dcterms:created>
  <dcterms:modified xsi:type="dcterms:W3CDTF">2026-08-27T22:58:32Z</dcterms:modified>
</cp:coreProperties>
</file>