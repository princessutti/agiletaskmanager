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7" r:id="rId1"/>
  </p:sldMasterIdLst>
  <p:sldIdLst>
    <p:sldId id="256" r:id="rId2"/>
    <p:sldId id="257" r:id="rId3"/>
    <p:sldId id="258" r:id="rId4"/>
    <p:sldId id="259" r:id="rId5"/>
    <p:sldId id="260" r:id="rId6"/>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16" d="100"/>
          <a:sy n="116" d="100"/>
        </p:scale>
        <p:origin x="2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22D07DEE-ADC1-4783-B68F-BD9D5021718F}" type="datetimeFigureOut">
              <a:rPr lang="en-GB" smtClean="0"/>
              <a:t>24/08/2026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3020572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2D07DEE-ADC1-4783-B68F-BD9D5021718F}" type="datetimeFigureOut">
              <a:rPr lang="en-GB" smtClean="0"/>
              <a:t>24/08/2026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1877926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22D07DEE-ADC1-4783-B68F-BD9D5021718F}" type="datetimeFigureOut">
              <a:rPr lang="en-GB" smtClean="0"/>
              <a:t>24/08/2026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1403357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22D07DEE-ADC1-4783-B68F-BD9D5021718F}" type="datetimeFigureOut">
              <a:rPr lang="en-GB" smtClean="0"/>
              <a:t>24/08/2026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1057651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22D07DEE-ADC1-4783-B68F-BD9D5021718F}" type="datetimeFigureOut">
              <a:rPr lang="en-GB" smtClean="0"/>
              <a:t>24/08/2026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3933379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22D07DEE-ADC1-4783-B68F-BD9D5021718F}" type="datetimeFigureOut">
              <a:rPr lang="en-GB" smtClean="0"/>
              <a:t>24/08/2026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1687089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D07DEE-ADC1-4783-B68F-BD9D5021718F}" type="datetimeFigureOut">
              <a:rPr lang="en-GB" smtClean="0"/>
              <a:t>24/08/2026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4150029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22D07DEE-ADC1-4783-B68F-BD9D5021718F}" type="datetimeFigureOut">
              <a:rPr lang="en-GB" smtClean="0"/>
              <a:t>24/08/2026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3539034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22D07DEE-ADC1-4783-B68F-BD9D5021718F}" type="datetimeFigureOut">
              <a:rPr lang="en-GB" smtClean="0"/>
              <a:t>24/08/2026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114615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22D07DEE-ADC1-4783-B68F-BD9D5021718F}" type="datetimeFigureOut">
              <a:rPr lang="en-GB" smtClean="0"/>
              <a:t>24/08/2026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174519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22D07DEE-ADC1-4783-B68F-BD9D5021718F}" type="datetimeFigureOut">
              <a:rPr lang="en-GB" smtClean="0"/>
              <a:t>24/08/2026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BEBB35F-1BDF-4E58-AC64-499C3B43E4A1}"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47800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22D07DEE-ADC1-4783-B68F-BD9D5021718F}" type="datetimeFigureOut">
              <a:rPr lang="en-GB" smtClean="0"/>
              <a:t>24/08/2026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1759553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22D07DEE-ADC1-4783-B68F-BD9D5021718F}" type="datetimeFigureOut">
              <a:rPr lang="en-GB" smtClean="0"/>
              <a:t>24/08/2026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BEBB35F-1BDF-4E58-AC64-499C3B43E4A1}"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94867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22D07DEE-ADC1-4783-B68F-BD9D5021718F}" type="datetimeFigureOut">
              <a:rPr lang="en-GB" smtClean="0"/>
              <a:t>24/08/2026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412388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2D07DEE-ADC1-4783-B68F-BD9D5021718F}" type="datetimeFigureOut">
              <a:rPr lang="en-GB" smtClean="0"/>
              <a:t>24/08/2026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18801369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2D07DEE-ADC1-4783-B68F-BD9D5021718F}" type="datetimeFigureOut">
              <a:rPr lang="en-GB" smtClean="0"/>
              <a:t>24/08/2026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985664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GB"/>
              <a:t>Click to edit Master title style</a:t>
            </a:r>
            <a:endParaRPr lang="en-US"/>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GB"/>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GB"/>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22D07DEE-ADC1-4783-B68F-BD9D5021718F}" type="datetimeFigureOut">
              <a:rPr lang="en-GB" smtClean="0"/>
              <a:t>24/08/2026</a:t>
            </a:fld>
            <a:endParaRPr lang="en-GB"/>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EBEBB35F-1BDF-4E58-AC64-499C3B43E4A1}" type="slidenum">
              <a:rPr lang="en-GB" smtClean="0"/>
              <a:t>‹#›</a:t>
            </a:fld>
            <a:endParaRPr lang="en-GB"/>
          </a:p>
        </p:txBody>
      </p:sp>
    </p:spTree>
    <p:extLst>
      <p:ext uri="{BB962C8B-B14F-4D97-AF65-F5344CB8AC3E}">
        <p14:creationId xmlns:p14="http://schemas.microsoft.com/office/powerpoint/2010/main" val="135156148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2D07DEE-ADC1-4783-B68F-BD9D5021718F}" type="datetimeFigureOut">
              <a:rPr lang="en-GB" smtClean="0"/>
              <a:t>24/08/2026</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EBEBB35F-1BDF-4E58-AC64-499C3B43E4A1}" type="slidenum">
              <a:rPr lang="en-GB" smtClean="0"/>
              <a:t>‹#›</a:t>
            </a:fld>
            <a:endParaRPr lang="en-GB"/>
          </a:p>
        </p:txBody>
      </p:sp>
    </p:spTree>
    <p:extLst>
      <p:ext uri="{BB962C8B-B14F-4D97-AF65-F5344CB8AC3E}">
        <p14:creationId xmlns:p14="http://schemas.microsoft.com/office/powerpoint/2010/main" val="3054035416"/>
      </p:ext>
    </p:extLst>
  </p:cSld>
  <p:clrMap bg1="lt1" tx1="dk1" bg2="lt2" tx2="dk2" accent1="accent1" accent2="accent2" accent3="accent3" accent4="accent4" accent5="accent5" accent6="accent6" hlink="hlink" folHlink="folHlink"/>
  <p:sldLayoutIdLst>
    <p:sldLayoutId id="2147484058" r:id="rId1"/>
    <p:sldLayoutId id="2147484059" r:id="rId2"/>
    <p:sldLayoutId id="2147484060" r:id="rId3"/>
    <p:sldLayoutId id="2147484061" r:id="rId4"/>
    <p:sldLayoutId id="2147484062" r:id="rId5"/>
    <p:sldLayoutId id="2147484063" r:id="rId6"/>
    <p:sldLayoutId id="2147484064" r:id="rId7"/>
    <p:sldLayoutId id="2147484065" r:id="rId8"/>
    <p:sldLayoutId id="2147484066" r:id="rId9"/>
    <p:sldLayoutId id="2147484067" r:id="rId10"/>
    <p:sldLayoutId id="2147484068" r:id="rId11"/>
    <p:sldLayoutId id="2147484069" r:id="rId12"/>
    <p:sldLayoutId id="2147484070" r:id="rId13"/>
    <p:sldLayoutId id="2147484071" r:id="rId14"/>
    <p:sldLayoutId id="2147484072" r:id="rId15"/>
    <p:sldLayoutId id="2147484073" r:id="rId16"/>
    <p:sldLayoutId id="2147484074" r:id="rId17"/>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D9254F-820D-22A3-0740-45EE9C4D0D78}"/>
              </a:ext>
            </a:extLst>
          </p:cNvPr>
          <p:cNvSpPr>
            <a:spLocks noGrp="1"/>
          </p:cNvSpPr>
          <p:nvPr>
            <p:ph type="ctrTitle"/>
          </p:nvPr>
        </p:nvSpPr>
        <p:spPr/>
        <p:txBody>
          <a:bodyPr/>
          <a:lstStyle/>
          <a:p>
            <a:r>
              <a:rPr lang="en-GB" dirty="0"/>
              <a:t>Agile Task Manager: </a:t>
            </a:r>
            <a:br>
              <a:rPr lang="en-GB" dirty="0"/>
            </a:br>
            <a:r>
              <a:rPr lang="en-GB" dirty="0"/>
              <a:t>How-To Guide</a:t>
            </a:r>
          </a:p>
        </p:txBody>
      </p:sp>
      <p:sp>
        <p:nvSpPr>
          <p:cNvPr id="5" name="Subtitle 4">
            <a:extLst>
              <a:ext uri="{FF2B5EF4-FFF2-40B4-BE49-F238E27FC236}">
                <a16:creationId xmlns:a16="http://schemas.microsoft.com/office/drawing/2014/main" id="{CB1B228C-212F-BF85-9703-A1B5FBDE720F}"/>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112043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0F4C2C6-A85D-1AF8-BA72-3D5DBAC07157}"/>
              </a:ext>
            </a:extLst>
          </p:cNvPr>
          <p:cNvSpPr>
            <a:spLocks noGrp="1"/>
          </p:cNvSpPr>
          <p:nvPr>
            <p:ph type="title"/>
          </p:nvPr>
        </p:nvSpPr>
        <p:spPr/>
        <p:txBody>
          <a:bodyPr>
            <a:normAutofit/>
          </a:bodyPr>
          <a:lstStyle/>
          <a:p>
            <a:pPr algn="ctr"/>
            <a:r>
              <a:rPr lang="en-GB" sz="2800" dirty="0"/>
              <a:t>Sprint: Timetabling</a:t>
            </a:r>
          </a:p>
        </p:txBody>
      </p:sp>
      <p:sp>
        <p:nvSpPr>
          <p:cNvPr id="10" name="Content Placeholder 9">
            <a:extLst>
              <a:ext uri="{FF2B5EF4-FFF2-40B4-BE49-F238E27FC236}">
                <a16:creationId xmlns:a16="http://schemas.microsoft.com/office/drawing/2014/main" id="{224EFAF1-47B2-47BA-CE77-CDCF2EEE4DB0}"/>
              </a:ext>
            </a:extLst>
          </p:cNvPr>
          <p:cNvSpPr>
            <a:spLocks noGrp="1"/>
          </p:cNvSpPr>
          <p:nvPr>
            <p:ph idx="1"/>
          </p:nvPr>
        </p:nvSpPr>
        <p:spPr>
          <a:xfrm>
            <a:off x="5087033" y="539323"/>
            <a:ext cx="4513541" cy="5526437"/>
          </a:xfrm>
        </p:spPr>
        <p:txBody>
          <a:bodyPr>
            <a:normAutofit lnSpcReduction="10000"/>
          </a:bodyPr>
          <a:lstStyle/>
          <a:p>
            <a:r>
              <a:rPr lang="en-GB" dirty="0"/>
              <a:t>Layout:</a:t>
            </a:r>
          </a:p>
          <a:p>
            <a:pPr lvl="1"/>
            <a:r>
              <a:rPr lang="en-GB" b="1" dirty="0"/>
              <a:t>Tasks Box: </a:t>
            </a:r>
            <a:r>
              <a:rPr lang="en-GB" dirty="0"/>
              <a:t>Contains all tasks with unassigned start/end times and due date</a:t>
            </a:r>
            <a:endParaRPr lang="en-GB" b="1" dirty="0"/>
          </a:p>
          <a:p>
            <a:pPr lvl="1"/>
            <a:r>
              <a:rPr lang="en-GB" b="1" dirty="0"/>
              <a:t>Timetable: </a:t>
            </a:r>
            <a:r>
              <a:rPr lang="en-GB" dirty="0"/>
              <a:t>all assigned tasks for this week are visible here. Tasks and subtasks are overlayed on the timetable to give an accurate view of task duration (this is based off token number and duration value assigned in settings)</a:t>
            </a:r>
            <a:endParaRPr lang="en-GB" b="1" dirty="0"/>
          </a:p>
          <a:p>
            <a:r>
              <a:rPr lang="en-GB" dirty="0"/>
              <a:t>How to Use:</a:t>
            </a:r>
          </a:p>
          <a:p>
            <a:pPr lvl="1"/>
            <a:r>
              <a:rPr lang="en-GB" dirty="0"/>
              <a:t>Sub/Tasks start in the tasks box once added</a:t>
            </a:r>
          </a:p>
          <a:p>
            <a:pPr lvl="1"/>
            <a:r>
              <a:rPr lang="en-GB" dirty="0"/>
              <a:t>Sub/Tasks can be dragged onto the timetable where they are assigned a new due date, start and end time according to where they are dropped</a:t>
            </a:r>
          </a:p>
          <a:p>
            <a:pPr lvl="1"/>
            <a:r>
              <a:rPr lang="en-GB" dirty="0"/>
              <a:t>Within the timetable the tasks can also be dragged between the dates</a:t>
            </a:r>
          </a:p>
          <a:p>
            <a:pPr lvl="1"/>
            <a:endParaRPr lang="en-GB" dirty="0"/>
          </a:p>
        </p:txBody>
      </p:sp>
      <p:sp>
        <p:nvSpPr>
          <p:cNvPr id="11" name="Text Placeholder 10">
            <a:extLst>
              <a:ext uri="{FF2B5EF4-FFF2-40B4-BE49-F238E27FC236}">
                <a16:creationId xmlns:a16="http://schemas.microsoft.com/office/drawing/2014/main" id="{B952B1FB-B846-E1D9-01F5-5B93F44EA234}"/>
              </a:ext>
            </a:extLst>
          </p:cNvPr>
          <p:cNvSpPr>
            <a:spLocks noGrp="1"/>
          </p:cNvSpPr>
          <p:nvPr>
            <p:ph type="body" sz="half" idx="2"/>
          </p:nvPr>
        </p:nvSpPr>
        <p:spPr/>
        <p:txBody>
          <a:bodyPr/>
          <a:lstStyle/>
          <a:p>
            <a:endParaRPr lang="en-GB" dirty="0"/>
          </a:p>
        </p:txBody>
      </p:sp>
      <p:pic>
        <p:nvPicPr>
          <p:cNvPr id="15" name="Picture 14">
            <a:extLst>
              <a:ext uri="{FF2B5EF4-FFF2-40B4-BE49-F238E27FC236}">
                <a16:creationId xmlns:a16="http://schemas.microsoft.com/office/drawing/2014/main" id="{336131D8-A183-160E-31DC-79EDBC256542}"/>
              </a:ext>
            </a:extLst>
          </p:cNvPr>
          <p:cNvPicPr>
            <a:picLocks noChangeAspect="1"/>
          </p:cNvPicPr>
          <p:nvPr/>
        </p:nvPicPr>
        <p:blipFill>
          <a:blip r:embed="rId2"/>
          <a:stretch>
            <a:fillRect/>
          </a:stretch>
        </p:blipFill>
        <p:spPr>
          <a:xfrm>
            <a:off x="284469" y="2901156"/>
            <a:ext cx="4802564" cy="2336273"/>
          </a:xfrm>
          <a:prstGeom prst="rect">
            <a:avLst/>
          </a:prstGeom>
        </p:spPr>
      </p:pic>
    </p:spTree>
    <p:extLst>
      <p:ext uri="{BB962C8B-B14F-4D97-AF65-F5344CB8AC3E}">
        <p14:creationId xmlns:p14="http://schemas.microsoft.com/office/powerpoint/2010/main" val="1399301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01F1E9-7DD8-1B8A-D370-C62DA3123EE9}"/>
              </a:ext>
            </a:extLst>
          </p:cNvPr>
          <p:cNvSpPr>
            <a:spLocks noGrp="1"/>
          </p:cNvSpPr>
          <p:nvPr>
            <p:ph type="title"/>
          </p:nvPr>
        </p:nvSpPr>
        <p:spPr/>
        <p:txBody>
          <a:bodyPr>
            <a:normAutofit/>
          </a:bodyPr>
          <a:lstStyle/>
          <a:p>
            <a:pPr algn="ctr"/>
            <a:r>
              <a:rPr lang="en-GB" sz="2800" dirty="0"/>
              <a:t>Calendar</a:t>
            </a:r>
          </a:p>
        </p:txBody>
      </p:sp>
      <p:sp>
        <p:nvSpPr>
          <p:cNvPr id="5" name="Content Placeholder 4">
            <a:extLst>
              <a:ext uri="{FF2B5EF4-FFF2-40B4-BE49-F238E27FC236}">
                <a16:creationId xmlns:a16="http://schemas.microsoft.com/office/drawing/2014/main" id="{33362EC6-B28E-5D3F-4DB6-936A7CDEB4CD}"/>
              </a:ext>
            </a:extLst>
          </p:cNvPr>
          <p:cNvSpPr>
            <a:spLocks noGrp="1"/>
          </p:cNvSpPr>
          <p:nvPr>
            <p:ph idx="1"/>
          </p:nvPr>
        </p:nvSpPr>
        <p:spPr/>
        <p:txBody>
          <a:bodyPr/>
          <a:lstStyle/>
          <a:p>
            <a:r>
              <a:rPr lang="en-GB" dirty="0"/>
              <a:t>Layout:</a:t>
            </a:r>
          </a:p>
          <a:p>
            <a:pPr lvl="1"/>
            <a:r>
              <a:rPr lang="en-GB" dirty="0"/>
              <a:t>Calendar: </a:t>
            </a:r>
          </a:p>
          <a:p>
            <a:pPr lvl="2"/>
            <a:r>
              <a:rPr lang="en-GB" dirty="0"/>
              <a:t>Viewed as months</a:t>
            </a:r>
          </a:p>
          <a:p>
            <a:pPr lvl="2"/>
            <a:r>
              <a:rPr lang="en-GB" dirty="0"/>
              <a:t>Dates lit up purple are dates containing assigned tasks</a:t>
            </a:r>
          </a:p>
          <a:p>
            <a:pPr lvl="2"/>
            <a:r>
              <a:rPr lang="en-GB" dirty="0"/>
              <a:t>For dates with tasks, there is an “EDIT TASK” button</a:t>
            </a:r>
          </a:p>
          <a:p>
            <a:r>
              <a:rPr lang="en-GB" dirty="0"/>
              <a:t>How To Use:</a:t>
            </a:r>
          </a:p>
          <a:p>
            <a:pPr lvl="1"/>
            <a:r>
              <a:rPr lang="en-GB" dirty="0"/>
              <a:t>Toggle through the months using the arrows on either side of the month and year</a:t>
            </a:r>
          </a:p>
          <a:p>
            <a:pPr lvl="1"/>
            <a:r>
              <a:rPr lang="en-GB" dirty="0"/>
              <a:t>Click on the purple dates to view and edit tasks using the “EDIT TASK” button </a:t>
            </a:r>
          </a:p>
        </p:txBody>
      </p:sp>
      <p:sp>
        <p:nvSpPr>
          <p:cNvPr id="6" name="Text Placeholder 5">
            <a:extLst>
              <a:ext uri="{FF2B5EF4-FFF2-40B4-BE49-F238E27FC236}">
                <a16:creationId xmlns:a16="http://schemas.microsoft.com/office/drawing/2014/main" id="{9EE561EE-AB8D-CB29-29C6-B4232D8F49F8}"/>
              </a:ext>
            </a:extLst>
          </p:cNvPr>
          <p:cNvSpPr>
            <a:spLocks noGrp="1"/>
          </p:cNvSpPr>
          <p:nvPr>
            <p:ph type="body" sz="half" idx="2"/>
          </p:nvPr>
        </p:nvSpPr>
        <p:spPr/>
        <p:txBody>
          <a:bodyPr/>
          <a:lstStyle/>
          <a:p>
            <a:endParaRPr lang="en-GB"/>
          </a:p>
        </p:txBody>
      </p:sp>
      <p:pic>
        <p:nvPicPr>
          <p:cNvPr id="8" name="Picture 7">
            <a:extLst>
              <a:ext uri="{FF2B5EF4-FFF2-40B4-BE49-F238E27FC236}">
                <a16:creationId xmlns:a16="http://schemas.microsoft.com/office/drawing/2014/main" id="{01920893-1497-6595-71B8-8E6A7FF9CFB4}"/>
              </a:ext>
            </a:extLst>
          </p:cNvPr>
          <p:cNvPicPr>
            <a:picLocks noChangeAspect="1"/>
          </p:cNvPicPr>
          <p:nvPr/>
        </p:nvPicPr>
        <p:blipFill>
          <a:blip r:embed="rId2"/>
          <a:stretch>
            <a:fillRect/>
          </a:stretch>
        </p:blipFill>
        <p:spPr>
          <a:xfrm>
            <a:off x="469741" y="2906774"/>
            <a:ext cx="4269713" cy="2325038"/>
          </a:xfrm>
          <a:prstGeom prst="rect">
            <a:avLst/>
          </a:prstGeom>
        </p:spPr>
      </p:pic>
    </p:spTree>
    <p:extLst>
      <p:ext uri="{BB962C8B-B14F-4D97-AF65-F5344CB8AC3E}">
        <p14:creationId xmlns:p14="http://schemas.microsoft.com/office/powerpoint/2010/main" val="3967140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13FE4C-3713-38AA-75BC-58FDB2A90265}"/>
              </a:ext>
            </a:extLst>
          </p:cNvPr>
          <p:cNvSpPr>
            <a:spLocks noGrp="1"/>
          </p:cNvSpPr>
          <p:nvPr>
            <p:ph type="title"/>
          </p:nvPr>
        </p:nvSpPr>
        <p:spPr/>
        <p:txBody>
          <a:bodyPr/>
          <a:lstStyle/>
          <a:p>
            <a:pPr algn="ctr"/>
            <a:r>
              <a:rPr lang="en-GB" sz="2800" dirty="0"/>
              <a:t>Backlog</a:t>
            </a:r>
            <a:endParaRPr lang="en-GB" dirty="0"/>
          </a:p>
        </p:txBody>
      </p:sp>
      <p:sp>
        <p:nvSpPr>
          <p:cNvPr id="5" name="Content Placeholder 4">
            <a:extLst>
              <a:ext uri="{FF2B5EF4-FFF2-40B4-BE49-F238E27FC236}">
                <a16:creationId xmlns:a16="http://schemas.microsoft.com/office/drawing/2014/main" id="{C3C5C433-5259-CB2C-9D11-E4C7661049E4}"/>
              </a:ext>
            </a:extLst>
          </p:cNvPr>
          <p:cNvSpPr>
            <a:spLocks noGrp="1"/>
          </p:cNvSpPr>
          <p:nvPr>
            <p:ph idx="1"/>
          </p:nvPr>
        </p:nvSpPr>
        <p:spPr/>
        <p:txBody>
          <a:bodyPr>
            <a:normAutofit lnSpcReduction="10000"/>
          </a:bodyPr>
          <a:lstStyle/>
          <a:p>
            <a:r>
              <a:rPr lang="en-GB" dirty="0"/>
              <a:t>Layout:</a:t>
            </a:r>
          </a:p>
          <a:p>
            <a:pPr lvl="1"/>
            <a:r>
              <a:rPr lang="en-GB" dirty="0"/>
              <a:t>Tasks in grey</a:t>
            </a:r>
          </a:p>
          <a:p>
            <a:pPr lvl="1"/>
            <a:r>
              <a:rPr lang="en-GB" dirty="0"/>
              <a:t>Subtasks in pale blue</a:t>
            </a:r>
          </a:p>
          <a:p>
            <a:pPr lvl="1"/>
            <a:r>
              <a:rPr lang="en-GB" dirty="0"/>
              <a:t>Edit Task button for each sub/task</a:t>
            </a:r>
          </a:p>
          <a:p>
            <a:pPr lvl="1"/>
            <a:r>
              <a:rPr lang="en-GB" dirty="0"/>
              <a:t>Add Task Button</a:t>
            </a:r>
          </a:p>
          <a:p>
            <a:pPr lvl="1"/>
            <a:endParaRPr lang="en-GB" dirty="0"/>
          </a:p>
          <a:p>
            <a:r>
              <a:rPr lang="en-GB" dirty="0"/>
              <a:t>How to Use</a:t>
            </a:r>
          </a:p>
          <a:p>
            <a:pPr lvl="1"/>
            <a:r>
              <a:rPr lang="en-GB" dirty="0"/>
              <a:t>Click on the </a:t>
            </a:r>
            <a:r>
              <a:rPr lang="en-GB" b="1" dirty="0"/>
              <a:t>Add Task</a:t>
            </a:r>
            <a:r>
              <a:rPr lang="en-GB" dirty="0"/>
              <a:t> button to add a new task to backlog. All fields are mandatory to ensure you do not procrastinate assigning them</a:t>
            </a:r>
          </a:p>
          <a:p>
            <a:pPr lvl="1"/>
            <a:r>
              <a:rPr lang="en-GB" dirty="0"/>
              <a:t>Tasks are only visible if they have not been completed</a:t>
            </a:r>
          </a:p>
          <a:p>
            <a:pPr lvl="1"/>
            <a:r>
              <a:rPr lang="en-GB" dirty="0"/>
              <a:t>All tasks can be edited using the </a:t>
            </a:r>
            <a:r>
              <a:rPr lang="en-GB" b="1" dirty="0"/>
              <a:t>Edit Task </a:t>
            </a:r>
            <a:r>
              <a:rPr lang="en-GB" dirty="0"/>
              <a:t>button inside the grey box. Tasks with subtasks will have the subtasks sitting under the main task in pale blue and can be edited the same way</a:t>
            </a:r>
          </a:p>
          <a:p>
            <a:endParaRPr lang="en-GB" dirty="0"/>
          </a:p>
        </p:txBody>
      </p:sp>
      <p:sp>
        <p:nvSpPr>
          <p:cNvPr id="6" name="Text Placeholder 5">
            <a:extLst>
              <a:ext uri="{FF2B5EF4-FFF2-40B4-BE49-F238E27FC236}">
                <a16:creationId xmlns:a16="http://schemas.microsoft.com/office/drawing/2014/main" id="{2020CEB9-A8E2-E85E-4107-414A71CA34CF}"/>
              </a:ext>
            </a:extLst>
          </p:cNvPr>
          <p:cNvSpPr>
            <a:spLocks noGrp="1"/>
          </p:cNvSpPr>
          <p:nvPr>
            <p:ph type="body" sz="half" idx="2"/>
          </p:nvPr>
        </p:nvSpPr>
        <p:spPr/>
        <p:txBody>
          <a:bodyPr/>
          <a:lstStyle/>
          <a:p>
            <a:endParaRPr lang="en-GB"/>
          </a:p>
        </p:txBody>
      </p:sp>
      <p:pic>
        <p:nvPicPr>
          <p:cNvPr id="8" name="Picture 7">
            <a:extLst>
              <a:ext uri="{FF2B5EF4-FFF2-40B4-BE49-F238E27FC236}">
                <a16:creationId xmlns:a16="http://schemas.microsoft.com/office/drawing/2014/main" id="{C538168B-73E2-9F2E-3919-8636D31942CE}"/>
              </a:ext>
            </a:extLst>
          </p:cNvPr>
          <p:cNvPicPr>
            <a:picLocks noChangeAspect="1"/>
          </p:cNvPicPr>
          <p:nvPr/>
        </p:nvPicPr>
        <p:blipFill>
          <a:blip r:embed="rId2"/>
          <a:srcRect l="3702" r="7664"/>
          <a:stretch>
            <a:fillRect/>
          </a:stretch>
        </p:blipFill>
        <p:spPr>
          <a:xfrm>
            <a:off x="244928" y="3024027"/>
            <a:ext cx="4988189" cy="2113808"/>
          </a:xfrm>
          <a:prstGeom prst="rect">
            <a:avLst/>
          </a:prstGeom>
        </p:spPr>
      </p:pic>
    </p:spTree>
    <p:extLst>
      <p:ext uri="{BB962C8B-B14F-4D97-AF65-F5344CB8AC3E}">
        <p14:creationId xmlns:p14="http://schemas.microsoft.com/office/powerpoint/2010/main" val="3595548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D1269-2B0F-5EC8-D0DD-1644A090A5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C574F8-0319-AAAC-7AA5-DA57AA267968}"/>
              </a:ext>
            </a:extLst>
          </p:cNvPr>
          <p:cNvSpPr>
            <a:spLocks noGrp="1"/>
          </p:cNvSpPr>
          <p:nvPr>
            <p:ph type="title"/>
          </p:nvPr>
        </p:nvSpPr>
        <p:spPr/>
        <p:txBody>
          <a:bodyPr>
            <a:normAutofit/>
          </a:bodyPr>
          <a:lstStyle/>
          <a:p>
            <a:pPr algn="ctr"/>
            <a:r>
              <a:rPr lang="en-GB" sz="2800" dirty="0"/>
              <a:t>Settings</a:t>
            </a:r>
          </a:p>
        </p:txBody>
      </p:sp>
      <p:sp>
        <p:nvSpPr>
          <p:cNvPr id="5" name="Content Placeholder 4">
            <a:extLst>
              <a:ext uri="{FF2B5EF4-FFF2-40B4-BE49-F238E27FC236}">
                <a16:creationId xmlns:a16="http://schemas.microsoft.com/office/drawing/2014/main" id="{1DD7887F-C43B-B040-F1BF-A861BEE04E95}"/>
              </a:ext>
            </a:extLst>
          </p:cNvPr>
          <p:cNvSpPr>
            <a:spLocks noGrp="1"/>
          </p:cNvSpPr>
          <p:nvPr>
            <p:ph idx="1"/>
          </p:nvPr>
        </p:nvSpPr>
        <p:spPr/>
        <p:txBody>
          <a:bodyPr>
            <a:normAutofit lnSpcReduction="10000"/>
          </a:bodyPr>
          <a:lstStyle/>
          <a:p>
            <a:r>
              <a:rPr lang="en-GB" dirty="0"/>
              <a:t>Layout:</a:t>
            </a:r>
          </a:p>
          <a:p>
            <a:pPr lvl="1"/>
            <a:r>
              <a:rPr lang="en-GB" dirty="0"/>
              <a:t>Sprint Token Limit</a:t>
            </a:r>
          </a:p>
          <a:p>
            <a:pPr lvl="1"/>
            <a:r>
              <a:rPr lang="en-GB" dirty="0"/>
              <a:t>Token Duration</a:t>
            </a:r>
          </a:p>
          <a:p>
            <a:pPr lvl="1"/>
            <a:endParaRPr lang="en-GB" dirty="0"/>
          </a:p>
          <a:p>
            <a:r>
              <a:rPr lang="en-GB" dirty="0"/>
              <a:t>How To Use:</a:t>
            </a:r>
          </a:p>
          <a:p>
            <a:pPr lvl="1"/>
            <a:r>
              <a:rPr lang="en-GB" dirty="0"/>
              <a:t>Assign values to </a:t>
            </a:r>
            <a:r>
              <a:rPr lang="en-GB" b="1" dirty="0"/>
              <a:t>Sprint Token Limit</a:t>
            </a:r>
            <a:r>
              <a:rPr lang="en-GB" dirty="0"/>
              <a:t> and </a:t>
            </a:r>
            <a:r>
              <a:rPr lang="en-GB" b="1" dirty="0"/>
              <a:t>Token Duration</a:t>
            </a:r>
            <a:r>
              <a:rPr lang="en-GB" dirty="0"/>
              <a:t>. This limits the number of tasks than can be tackled during each sprint (set as one week). </a:t>
            </a:r>
          </a:p>
          <a:p>
            <a:pPr lvl="1"/>
            <a:r>
              <a:rPr lang="en-GB" dirty="0"/>
              <a:t>Each task and subtask is auto set to one token unless changed upon creation or editing.</a:t>
            </a:r>
          </a:p>
          <a:p>
            <a:pPr lvl="1"/>
            <a:r>
              <a:rPr lang="en-GB" dirty="0"/>
              <a:t>The token duration is the amount of time expected for the task to take if it was only worth one token (a measure for effort required). Please set token limit and token duration sensibly to ensure sprint weeks and tasks assigned are not overwhelming. Adjust as needed.</a:t>
            </a:r>
          </a:p>
        </p:txBody>
      </p:sp>
      <p:sp>
        <p:nvSpPr>
          <p:cNvPr id="6" name="Text Placeholder 5">
            <a:extLst>
              <a:ext uri="{FF2B5EF4-FFF2-40B4-BE49-F238E27FC236}">
                <a16:creationId xmlns:a16="http://schemas.microsoft.com/office/drawing/2014/main" id="{A2D9CAD9-BCF2-AD9B-1A55-950F39960500}"/>
              </a:ext>
            </a:extLst>
          </p:cNvPr>
          <p:cNvSpPr>
            <a:spLocks noGrp="1"/>
          </p:cNvSpPr>
          <p:nvPr>
            <p:ph type="body" sz="half" idx="2"/>
          </p:nvPr>
        </p:nvSpPr>
        <p:spPr/>
        <p:txBody>
          <a:bodyPr/>
          <a:lstStyle/>
          <a:p>
            <a:endParaRPr lang="en-GB"/>
          </a:p>
        </p:txBody>
      </p:sp>
      <p:pic>
        <p:nvPicPr>
          <p:cNvPr id="3" name="Picture 2">
            <a:extLst>
              <a:ext uri="{FF2B5EF4-FFF2-40B4-BE49-F238E27FC236}">
                <a16:creationId xmlns:a16="http://schemas.microsoft.com/office/drawing/2014/main" id="{76BDB7C9-22AA-9C3B-C656-39ECD998610D}"/>
              </a:ext>
            </a:extLst>
          </p:cNvPr>
          <p:cNvPicPr>
            <a:picLocks noChangeAspect="1"/>
          </p:cNvPicPr>
          <p:nvPr/>
        </p:nvPicPr>
        <p:blipFill>
          <a:blip r:embed="rId2"/>
          <a:stretch>
            <a:fillRect/>
          </a:stretch>
        </p:blipFill>
        <p:spPr>
          <a:xfrm>
            <a:off x="563034" y="3278142"/>
            <a:ext cx="4083127" cy="1338545"/>
          </a:xfrm>
          <a:prstGeom prst="rect">
            <a:avLst/>
          </a:prstGeom>
        </p:spPr>
      </p:pic>
    </p:spTree>
    <p:extLst>
      <p:ext uri="{BB962C8B-B14F-4D97-AF65-F5344CB8AC3E}">
        <p14:creationId xmlns:p14="http://schemas.microsoft.com/office/powerpoint/2010/main" val="168215789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FYP Inspection</Template>
  <TotalTime>3326</TotalTime>
  <Words>395</Words>
  <Application>Microsoft Office PowerPoint</Application>
  <PresentationFormat>Widescreen</PresentationFormat>
  <Paragraphs>38</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Trebuchet MS</vt:lpstr>
      <vt:lpstr>Wingdings 3</vt:lpstr>
      <vt:lpstr>Facet</vt:lpstr>
      <vt:lpstr>Agile Task Manager:  How-To Guide</vt:lpstr>
      <vt:lpstr>Sprint: Timetabling</vt:lpstr>
      <vt:lpstr>Calendar</vt:lpstr>
      <vt:lpstr>Backlog</vt:lpstr>
      <vt:lpstr>Settings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Victoria Utti</dc:creator>
  <cp:lastModifiedBy>Tori Utti</cp:lastModifiedBy>
  <cp:revision>3</cp:revision>
  <cp:lastPrinted>2026-08-18T17:24:58Z</cp:lastPrinted>
  <dcterms:created xsi:type="dcterms:W3CDTF">2026-08-18T09:35:27Z</dcterms:created>
  <dcterms:modified xsi:type="dcterms:W3CDTF">2026-08-26T22:25:21Z</dcterms:modified>
</cp:coreProperties>
</file>